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75f4f9edb4f07" /><Relationship Type="http://schemas.openxmlformats.org/officeDocument/2006/relationships/extended-properties" Target="/docProps/app.xml" Id="Rf3eabaa4a4364534" /><Relationship Type="http://schemas.openxmlformats.org/officeDocument/2006/relationships/officeDocument" Target="/ppt/presentation.xml" Id="Rff1331cac05c4e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03f147d8434336"/>
  </p:sldMasterIdLst>
  <p:notesMasterIdLst>
    <p:notesMasterId xmlns:r="http://schemas.openxmlformats.org/officeDocument/2006/relationships" r:id="R959d227a9f854ed1"/>
  </p:notesMasterIdLst>
  <p:sldIdLst>
    <p:sldId xmlns:r="http://schemas.openxmlformats.org/officeDocument/2006/relationships" id="256" r:id="Rd99ae8505ee54ba1"/>
    <p:sldId xmlns:r="http://schemas.openxmlformats.org/officeDocument/2006/relationships" id="257" r:id="Rb4f9495fb9f54a17"/>
    <p:sldId xmlns:r="http://schemas.openxmlformats.org/officeDocument/2006/relationships" id="258" r:id="R28f1d99330cb4b0d"/>
    <p:sldId xmlns:r="http://schemas.openxmlformats.org/officeDocument/2006/relationships" id="259" r:id="Rce49ce40dcc54444"/>
    <p:sldId xmlns:r="http://schemas.openxmlformats.org/officeDocument/2006/relationships" id="260" r:id="R8e78cd03cf814717"/>
    <p:sldId xmlns:r="http://schemas.openxmlformats.org/officeDocument/2006/relationships" id="261" r:id="R79254f6308a1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0a5b7e5f364c96" /><Relationship Type="http://schemas.openxmlformats.org/officeDocument/2006/relationships/slideMaster" Target="/ppt/slideMasters/slideMaster1.xml" Id="Rcd03f147d8434336" /><Relationship Type="http://schemas.openxmlformats.org/officeDocument/2006/relationships/notesMaster" Target="/ppt/notesMasters/notesMaster1.xml" Id="R959d227a9f854ed1" /><Relationship Type="http://schemas.openxmlformats.org/officeDocument/2006/relationships/presProps" Target="/ppt/presProps.xml" Id="Rc750de94b7e140c0" /><Relationship Type="http://schemas.openxmlformats.org/officeDocument/2006/relationships/tableStyles" Target="/ppt/tableStyles.xml" Id="R81f0d888a20c4c0b" /><Relationship Type="http://schemas.openxmlformats.org/officeDocument/2006/relationships/slide" Target="/ppt/slides/slide1.xml" Id="Rd99ae8505ee54ba1" /><Relationship Type="http://schemas.openxmlformats.org/officeDocument/2006/relationships/slide" Target="/ppt/slides/slide2.xml" Id="Rb4f9495fb9f54a17" /><Relationship Type="http://schemas.openxmlformats.org/officeDocument/2006/relationships/slide" Target="/ppt/slides/slide3.xml" Id="R28f1d99330cb4b0d" /><Relationship Type="http://schemas.openxmlformats.org/officeDocument/2006/relationships/slide" Target="/ppt/slides/slide4.xml" Id="Rce49ce40dcc54444" /><Relationship Type="http://schemas.openxmlformats.org/officeDocument/2006/relationships/slide" Target="/ppt/slides/slide5.xml" Id="R8e78cd03cf814717" /><Relationship Type="http://schemas.openxmlformats.org/officeDocument/2006/relationships/slide" Target="/ppt/slides/slide6.xml" Id="R79254f6308a1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84f582aeed41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61e7e31c3481c" /><Relationship Type="http://schemas.openxmlformats.org/officeDocument/2006/relationships/notesMaster" Target="/ppt/notesMasters/notesMaster1.xml" Id="R2279b4b6547043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275d09b93544e1" /><Relationship Type="http://schemas.openxmlformats.org/officeDocument/2006/relationships/notesMaster" Target="/ppt/notesMasters/notesMaster1.xml" Id="R4e644fe30bf243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ebaa884e3f4a31" /><Relationship Type="http://schemas.openxmlformats.org/officeDocument/2006/relationships/notesMaster" Target="/ppt/notesMasters/notesMaster1.xml" Id="Rc550d570766e4c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55124edbb4036" /><Relationship Type="http://schemas.openxmlformats.org/officeDocument/2006/relationships/notesMaster" Target="/ppt/notesMasters/notesMaster1.xml" Id="Ra41df6721bcc42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6b8de0b08241c7" /><Relationship Type="http://schemas.openxmlformats.org/officeDocument/2006/relationships/notesMaster" Target="/ppt/notesMasters/notesMaster1.xml" Id="Rdf29e36048f144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beb2c621c4d3e" /><Relationship Type="http://schemas.openxmlformats.org/officeDocument/2006/relationships/notesMaster" Target="/ppt/notesMasters/notesMaster1.xml" Id="R2dadf55dc857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项目目标与痛点属于设计动机，未宣称客户访谈或已实现企业提效。实现来源：server/observations.py、public/resources/catalog.json。秦斌项目独立拆分，原武汉行业项目不作为本项目功能证据。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来源：ProbeService.probe、inspect、Ledger.add。2026-10-06修复同快照验收结果变化的去重遗漏，并新增fresh→stale和healthy→latency失败两项测试。当前只有PublicNode启用，Llama未启用，所以不宣称真实备用服务自动切换。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完整实测证据：tests/live-probe-result.json。Ethereum block hash 0x34c2d097c0ed5cefd59d0d262854b6be4c1a4719773dc314f41ec7ff59690d91，源 https://ethereum-rpc.publicnode.com。此次账本运行在独立临时SQLite，测试后移除。耗时仅该次测量，不是可用率或SLA。demo stale/missing只有拒收，无备用服务切换。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来源：public/resources/catalog.json，12 skills/4 agents/8 harness；岗位只是确定性代码职责划分，不是四个大模型自主代理。Harness包括固定来源、真实合成隔离、失败不选中、有界执行、证据重放、去重、分母与身份边界。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测试命令：python3 -m unittest discover -s tests -v，2026-10-06当前24 tests通过。离线verify校验规范快照内部一致性，不证明来源真实或提供者身份。当前不实现ERC-8004或注册评分体系，也未签名或上链。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目标访问地址为 https://wutiantian.cn/agent-trust/，实际上线状态以发布记录为准，页面不以链接文字声称已上线。公开资料包含源码许可、API、目录和测试，具体开源发布范围以项目README为准。该背景复用public/media/titanium-wallpaper.png，为静态材质；文字与原生流程/表格可编辑，不含WebG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7f4ccb63843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71a40de6f54aa3" /><Relationship Type="http://schemas.openxmlformats.org/officeDocument/2006/relationships/slideLayout" Target="/ppt/slideLayouts/slideLayout1.xml" Id="R87289715aa0646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89715aa0646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330ba88244836" /><Relationship Type="http://schemas.openxmlformats.org/officeDocument/2006/relationships/image" Target="/ppt/media/image.png" Id="Re3d4e89363144572" /><Relationship Type="http://schemas.openxmlformats.org/officeDocument/2006/relationships/notesSlide" Target="/ppt/notesSlides/notesSlide1.xml" Id="Ra3b7f0e064794f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23a5032504450" /><Relationship Type="http://schemas.openxmlformats.org/officeDocument/2006/relationships/image" Target="/ppt/media/image2.png" Id="R5ac9d123225f4ab5" /><Relationship Type="http://schemas.openxmlformats.org/officeDocument/2006/relationships/notesSlide" Target="/ppt/notesSlides/notesSlide2.xml" Id="R0c35daba6ae1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5edb011641ac" /><Relationship Type="http://schemas.openxmlformats.org/officeDocument/2006/relationships/image" Target="/ppt/media/image3.png" Id="R2bed467919694983" /><Relationship Type="http://schemas.openxmlformats.org/officeDocument/2006/relationships/notesSlide" Target="/ppt/notesSlides/notesSlide3.xml" Id="Ra658d988610f49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ccf5938f449e0" /><Relationship Type="http://schemas.openxmlformats.org/officeDocument/2006/relationships/image" Target="/ppt/media/image4.png" Id="Ra6e56743524d4b5d" /><Relationship Type="http://schemas.openxmlformats.org/officeDocument/2006/relationships/notesSlide" Target="/ppt/notesSlides/notesSlide4.xml" Id="Rca12e573905f4a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eed7fabf84689" /><Relationship Type="http://schemas.openxmlformats.org/officeDocument/2006/relationships/image" Target="/ppt/media/image5.png" Id="R8f5a3a38e65b4abb" /><Relationship Type="http://schemas.openxmlformats.org/officeDocument/2006/relationships/notesSlide" Target="/ppt/notesSlides/notesSlide5.xml" Id="R697bcd448f8048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aef49aefb483b" /><Relationship Type="http://schemas.openxmlformats.org/officeDocument/2006/relationships/image" Target="/ppt/media/image6.png" Id="Rdd638316a40d432c" /><Relationship Type="http://schemas.openxmlformats.org/officeDocument/2006/relationships/notesSlide" Target="/ppt/notesSlides/notesSlide6.xml" Id="R71b46a1efc7b49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4e8936314457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6E5FA-2975-486C-8006-04D70C3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038850"/>
          </a:xfrm>
          <a:prstGeom xmlns:a="http://schemas.openxmlformats.org/drawingml/2006/main" prst="roundRect">
            <a:avLst>
              <a:gd name="adj" fmla="val 1262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F2F08-AC1F-456B-A800-806DD23F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4770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rPr>
              <a:t>江城验真   01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E29D7-CEFD-4D14-83EF-A9047BDE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2867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江城验真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7BCFC-7404-43A2-93F2-E92C1937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38325"/>
            <a:ext cx="1000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Agent 服务的交付验收与观测证据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3A627-51AC-4A5E-BE1F-269CA400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服务对象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56BFA-3BE6-4402-9AC3-8BFE139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委托方、工具集成者</a:t>
            </a:r>
          </a:p>
          <a:p xmlns:a="http://schemas.openxmlformats.org/drawingml/2006/main">
            <a:pPr>
              <a:defRPr sz="20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服务复核人员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F9568-1BFC-4C70-B06C-728BBBFC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09875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收到响应以后，仍要确认交付可用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7079A-F5CE-4E1A-8F6C-C9072574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57912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过期数据照常返回</a:t>
            </a:r>
          </a:p>
          <a:p xmlns:a="http://schemas.openxmlformats.org/drawingml/2006/main">
            <a:pPr>
              <a:def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交易与回执可能缺项</a:t>
            </a:r>
          </a:p>
          <a:p xmlns:a="http://schemas.openxmlformats.org/drawingml/2006/main">
            <a:pPr>
              <a:def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一次成功难以代表持续履约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F3AFE-C1D0-4B8B-BD66-CF54F0D3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1031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本实例按固定约定检查交付，保留可下载的验收证据</a:t>
            </a:r>
          </a:p>
        </p:txBody>
      </p:sp>
    </p:spTree>
    <p:extLst>
      <p:ext uri="{BB962C8B-B14F-4D97-AF65-F5344CB8AC3E}">
        <p14:creationId xmlns:p14="http://schemas.microsoft.com/office/powerpoint/2010/main" val="3320875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9d123225f4ab5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C2F86-09C0-463B-B5FA-81F03CA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038850"/>
          </a:xfrm>
          <a:prstGeom xmlns:a="http://schemas.openxmlformats.org/drawingml/2006/main" prst="roundRect">
            <a:avLst>
              <a:gd name="adj" fmla="val 1262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DA3FB-2E74-4790-B63F-B10E744E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42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交付验收闭环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0F8A6-65D2-4506-BFCB-9A61D24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rPr>
              <a:t>真实探测、逐项验收和去重记录构成最小可运行流程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59BDE-3C2D-462D-B302-8D83F91F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4770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rPr>
              <a:t>江城验真   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CE156-C49D-4DB6-8C52-F79DF81E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15E17-9F7A-4B64-9115-C2B907FD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79552-55F0-4015-8EE5-729E46C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选择服务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37B17-D5EC-42F2-A956-138A613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固定来源白名单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8EC89-3373-400E-B101-7A97F3AF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A1DF9-CFF6-4FC6-BFE2-34B0429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A6304-0973-46CE-99CC-FA3BC965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采集交付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5E1DF-B582-4B85-BE8E-6423158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区块与3笔回执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28925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5E87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C6166-2D2B-411C-ACC3-E3D0800B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802D1-B076-41BD-86AA-E239C145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09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FB9BA-8877-468A-B21B-09F4324C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核对约定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885F0-5B08-451D-9870-FC9BFE0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671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身份、时效、关联</a:t>
            </a:r>
          </a:p>
        </p:txBody>
      </p: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924425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5E87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52466-9593-4071-9BC6-CFDD3A6B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7650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9BB93-9F06-4CD9-B21A-B48F362A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63986-8338-4416-BDF2-F053D664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形成判定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FCDDB-956D-4197-9D3D-4791568B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671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通过或明确拒收</a:t>
            </a:r>
          </a:p>
        </p:txBody>
      </p: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019925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5E87"/>
            </a:solidFill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856BD-66E2-4875-A4E4-1EC3D529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76500"/>
            <a:ext cx="1924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27FFF-A3F2-4FCA-A4D1-125DE7E7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09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B6EFF-F5D8-45C4-951F-89301132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647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记录与复核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FFBB9-5D3C-4856-B30D-C926CF8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671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下载与离线重放</a:t>
            </a:r>
          </a:p>
        </p:txBody>
      </p:sp>
      <p:cxnSp>
        <p:nvCxnSpPr>
          <p:cNvPr id="60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115425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45E87"/>
            </a:solidFill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FCE09-E534-4BF1-BCB0-F18BC5B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481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通过变为过期或超时拒收时，保留新的判定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05137B-2F1B-40B7-9D5F-4FF5C3BE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133975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相同快照、相同判定与失败项继续去重。统计分母是去重观测。</a:t>
            </a:r>
          </a:p>
        </p:txBody>
      </p:sp>
    </p:spTree>
    <p:extLst>
      <p:ext uri="{BB962C8B-B14F-4D97-AF65-F5344CB8AC3E}">
        <p14:creationId xmlns:p14="http://schemas.microsoft.com/office/powerpoint/2010/main" val="6837199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d467919694983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617FE-E576-4843-8154-B9A2E13F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038850"/>
          </a:xfrm>
          <a:prstGeom xmlns:a="http://schemas.openxmlformats.org/drawingml/2006/main" prst="roundRect">
            <a:avLst>
              <a:gd name="adj" fmla="val 1262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6D2EA-4744-419B-B648-F6E6F46A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42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真实服务已经完成一次验收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AF95B-94CB-41C7-94FF-A2288836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rPr>
              <a:t>2026-10-06 10:50:12 UTC，固定 PublicNode 实测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8F758-0B5A-47C9-9446-647F39E7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4770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rPr>
              <a:t>江城验真   03 / 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95350" y="2219325"/>
          <a:ext xmlns:a="http://schemas.openxmlformats.org/drawingml/2006/main" cx="10382250" cy="2924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6953250"/>
              </a:tblGrid>
              <a:tr h="58483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观测项</a:t>
                      </a:r>
                    </a:p>
                  </a:txBody>
                  <a:tcPr marL="142875" marR="114300" marT="85725" marB="76200" anchor="ctr">
                    <a:solidFill>
                      <a:srgbClr val="245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实测结果</a:t>
                      </a:r>
                    </a:p>
                  </a:txBody>
                  <a:tcPr marL="142875" marR="114300" marT="85725" marB="76200" anchor="ctr">
                    <a:solidFill>
                      <a:srgbClr val="245E87"/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Finalized 区块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26,132,778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交易回执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/ 3 份，关联验收通过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本次采集耗时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3,229 ms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483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证据重放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通过，来源真实性未认证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E6F57-4CE8-479C-9F6C-4432745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合成示例：正常通过，过期与缺项拒收，均不进入真实账本</a:t>
            </a:r>
          </a:p>
        </p:txBody>
      </p:sp>
    </p:spTree>
    <p:extLst>
      <p:ext uri="{BB962C8B-B14F-4D97-AF65-F5344CB8AC3E}">
        <p14:creationId xmlns:p14="http://schemas.microsoft.com/office/powerpoint/2010/main" val="19641645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56743524d4b5d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B5B89-6FB2-4DA2-9FD8-F4C4E195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038850"/>
          </a:xfrm>
          <a:prstGeom xmlns:a="http://schemas.openxmlformats.org/drawingml/2006/main" prst="roundRect">
            <a:avLst>
              <a:gd name="adj" fmla="val 1262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F69C0-295B-4D1D-AB7C-99BF871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42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岗位职责与可执行技能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E618E-EE3C-4F09-8285-6260269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rPr>
              <a:t>12 项 Skills，4 个确定性岗位，8 条 Harness 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8D748-67D7-4AE0-AFDD-E537C26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4770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rPr>
              <a:t>江城验真   04 / 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95350" y="2219325"/>
          <a:ext xmlns:a="http://schemas.openxmlformats.org/drawingml/2006/main" cx="1038225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4676775"/>
                <a:gridCol w="3552825"/>
              </a:tblGrid>
              <a:tr h="6362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岗位</a:t>
                      </a:r>
                    </a:p>
                  </a:txBody>
                  <a:tcPr marL="142875" marR="114300" marT="85725" marB="76200" anchor="ctr">
                    <a:solidFill>
                      <a:srgbClr val="245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142875" marR="114300" marT="85725" marB="76200" anchor="ctr">
                    <a:solidFill>
                      <a:srgbClr val="245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</a:t>
                      </a:r>
                    </a:p>
                  </a:txBody>
                  <a:tcPr marL="142875" marR="114300" marT="85725" marB="76200" anchor="ctr">
                    <a:solidFill>
                      <a:srgbClr val="245E87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服务探测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固定来源与RPC采集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有界证据快照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交付验收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链身份、时效与关联检查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逐项通过或拒收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选择与观测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按验收选择并去重保存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SQLite 观测记录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证据复核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样例、下载与离线重放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摘要及规则一致结果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0F305-AF31-4D9D-8AE9-BA9B298E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581650"/>
            <a:ext cx="1034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由 Python 工具执行，语言模型未接入；用户请求触发，未安装定时任务</a:t>
            </a:r>
          </a:p>
        </p:txBody>
      </p:sp>
    </p:spTree>
    <p:extLst>
      <p:ext uri="{BB962C8B-B14F-4D97-AF65-F5344CB8AC3E}">
        <p14:creationId xmlns:p14="http://schemas.microsoft.com/office/powerpoint/2010/main" val="13035617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a3a38e65b4abb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5AB7D-0BD0-4336-A422-E19AA53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038850"/>
          </a:xfrm>
          <a:prstGeom xmlns:a="http://schemas.openxmlformats.org/drawingml/2006/main" prst="roundRect">
            <a:avLst>
              <a:gd name="adj" fmla="val 1262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1A197-7A48-4683-9053-E7957B3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42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验证结果与当前范围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6851-622A-47B4-B674-EB862BD6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rPr>
              <a:t>当前后端测试集：24 项通过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75DEE-806C-42DA-91D0-E9DAC9B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4770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rPr>
              <a:t>江城验真   05 / 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95350" y="2219325"/>
          <a:ext xmlns:a="http://schemas.openxmlformats.org/drawingml/2006/main" cx="1038225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33900"/>
                <a:gridCol w="5848350"/>
              </a:tblGrid>
              <a:tr h="5829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已验证</a:t>
                      </a:r>
                    </a:p>
                  </a:txBody>
                  <a:tcPr marL="142875" marR="114300" marT="85725" marB="76200" anchor="ctr">
                    <a:solidFill>
                      <a:srgbClr val="245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范围</a:t>
                      </a:r>
                    </a:p>
                  </a:txBody>
                  <a:tcPr marL="142875" marR="114300" marT="85725" marB="76200" anchor="ctr">
                    <a:solidFill>
                      <a:srgbClr val="245E8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真实观测留档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同快照通过转拒收另行保留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重新计算哈希后的篡改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派生判定与规则不一致仍拒绝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真实与合成隔离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失败不改为示例，示例不入账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固定只读调用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2A3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并发锁、响应上限和同源检查</a:t>
                      </a:r>
                    </a:p>
                  </a:txBody>
                  <a:tcPr marL="142875" marR="114300" marT="85725" marB="76200" anchor="ctr"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539F8-7B80-4B08-B5C1-C0A040F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5816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当前是单实例履约观测；公共信誉、抗女巫与链上登记尚未实现</a:t>
            </a:r>
          </a:p>
        </p:txBody>
      </p:sp>
    </p:spTree>
    <p:extLst>
      <p:ext uri="{BB962C8B-B14F-4D97-AF65-F5344CB8AC3E}">
        <p14:creationId xmlns:p14="http://schemas.microsoft.com/office/powerpoint/2010/main" val="20106477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38316a40d432c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33104-36A4-45C8-B3AA-098561A6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201400" cy="6038850"/>
          </a:xfrm>
          <a:prstGeom xmlns:a="http://schemas.openxmlformats.org/drawingml/2006/main" prst="roundRect">
            <a:avLst>
              <a:gd name="adj" fmla="val 1262"/>
            </a:avLst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 w="9525">
            <a:solidFill>
              <a:srgbClr val="FFFFFF">
                <a:alpha val="9000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D2BBD-3963-498F-A8C2-4316F6E6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42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使用与公共物品复用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A17B6-2781-492B-B8BA-6670851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38275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675"/>
                </a:solidFill>
                <a:latin typeface="Arial Unicode MS"/>
                <a:ea typeface="Arial Unicode MS"/>
                <a:cs typeface="Arial Unicode MS"/>
              </a:rPr>
              <a:t>以开放约定、示例和复核工具支持后续集成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D3644-E3F7-4F71-91EB-573EDF6A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47700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9FCFF"/>
                </a:solidFill>
                <a:latin typeface="Arial Unicode MS"/>
                <a:ea typeface="Arial Unicode MS"/>
                <a:cs typeface="Arial Unicode MS"/>
              </a:rPr>
              <a:t>江城验真   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7F44-3AC0-4FEA-91F9-891AC78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访问入口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3F235-F6E2-4D8E-9D9B-E156267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E87"/>
                </a:solidFill>
                <a:latin typeface="Arial Unicode MS"/>
                <a:ea typeface="Arial Unicode MS"/>
                <a:cs typeface="Arial Unicode MS"/>
              </a:rPr>
              <a:t>https://wutiantian.cn/agent-trust/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73FEE-D769-4E20-80A7-B9A688A7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62375"/>
            <a:ext cx="10287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选择真实服务，查看验收项和历史观测</a:t>
            </a:r>
          </a:p>
          <a:p xmlns:a="http://schemas.openxmlformats.org/drawingml/2006/main">
            <a:pPr>
              <a:def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下载回执后，在复核入口重新验算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42AD7-3AC4-42BE-BD80-6D652BA7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03872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82A36"/>
                </a:solidFill>
                <a:latin typeface="Arial Unicode MS"/>
                <a:ea typeface="Arial Unicode MS"/>
                <a:cs typeface="Arial Unicode MS"/>
              </a:rPr>
              <a:t>可复用交付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1684A-9DF1-4C6A-8664-2EF04119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5149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3C4F5D"/>
                </a:solidFill>
                <a:latin typeface="Arial Unicode MS"/>
                <a:ea typeface="Arial Unicode MS"/>
                <a:cs typeface="Arial Unicode MS"/>
              </a:rPr>
              <a:t>API 约定、12 项技能清单、测试集、回执 schema 与示例</a:t>
            </a:r>
          </a:p>
        </p:txBody>
      </p:sp>
    </p:spTree>
    <p:extLst>
      <p:ext uri="{BB962C8B-B14F-4D97-AF65-F5344CB8AC3E}">
        <p14:creationId xmlns:p14="http://schemas.microsoft.com/office/powerpoint/2010/main" val="1745408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2026-10-06T11:01:31.8130000Z</dcterms:created>
  <dcterms:modified xsi:type="dcterms:W3CDTF">2026-10-06T11:01:31.8130000Z</dcterms:modified>
</coreProperties>
</file>